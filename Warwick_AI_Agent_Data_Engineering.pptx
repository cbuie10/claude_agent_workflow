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65EED5-D8C7-7045-905F-DF6B4F29128D}" v="5" dt="2026-02-13T00:32:14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L. Buie" userId="ab143349-4b09-429d-a964-cfab0058e0a9" providerId="ADAL" clId="{88A54081-24A6-55D3-A256-44637D7EA9D3}"/>
    <pc:docChg chg="undo custSel modSld">
      <pc:chgData name="Chris L. Buie" userId="ab143349-4b09-429d-a964-cfab0058e0a9" providerId="ADAL" clId="{88A54081-24A6-55D3-A256-44637D7EA9D3}" dt="2026-02-13T00:32:57.988" v="250" actId="20577"/>
      <pc:docMkLst>
        <pc:docMk/>
      </pc:docMkLst>
      <pc:sldChg chg="modSp mod">
        <pc:chgData name="Chris L. Buie" userId="ab143349-4b09-429d-a964-cfab0058e0a9" providerId="ADAL" clId="{88A54081-24A6-55D3-A256-44637D7EA9D3}" dt="2026-02-13T00:25:16.783" v="132" actId="207"/>
        <pc:sldMkLst>
          <pc:docMk/>
          <pc:sldMk cId="0" sldId="257"/>
        </pc:sldMkLst>
        <pc:spChg chg="mod">
          <ac:chgData name="Chris L. Buie" userId="ab143349-4b09-429d-a964-cfab0058e0a9" providerId="ADAL" clId="{88A54081-24A6-55D3-A256-44637D7EA9D3}" dt="2026-02-13T00:25:16.783" v="132" actId="207"/>
          <ac:spMkLst>
            <pc:docMk/>
            <pc:sldMk cId="0" sldId="257"/>
            <ac:spMk id="7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25:12.903" v="130" actId="20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25:12.471" v="129" actId="207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Chris L. Buie" userId="ab143349-4b09-429d-a964-cfab0058e0a9" providerId="ADAL" clId="{88A54081-24A6-55D3-A256-44637D7EA9D3}" dt="2026-02-13T00:25:45.642" v="135" actId="207"/>
        <pc:sldMkLst>
          <pc:docMk/>
          <pc:sldMk cId="0" sldId="258"/>
        </pc:sldMkLst>
        <pc:spChg chg="mod">
          <ac:chgData name="Chris L. Buie" userId="ab143349-4b09-429d-a964-cfab0058e0a9" providerId="ADAL" clId="{88A54081-24A6-55D3-A256-44637D7EA9D3}" dt="2026-02-13T00:25:45.642" v="135" actId="207"/>
          <ac:spMkLst>
            <pc:docMk/>
            <pc:sldMk cId="0" sldId="258"/>
            <ac:spMk id="15" creationId="{00000000-0000-0000-0000-000000000000}"/>
          </ac:spMkLst>
        </pc:spChg>
      </pc:sldChg>
      <pc:sldChg chg="addSp modSp mod">
        <pc:chgData name="Chris L. Buie" userId="ab143349-4b09-429d-a964-cfab0058e0a9" providerId="ADAL" clId="{88A54081-24A6-55D3-A256-44637D7EA9D3}" dt="2026-02-13T00:23:19.436" v="120" actId="14100"/>
        <pc:sldMkLst>
          <pc:docMk/>
          <pc:sldMk cId="0" sldId="261"/>
        </pc:sldMkLst>
        <pc:spChg chg="mod">
          <ac:chgData name="Chris L. Buie" userId="ab143349-4b09-429d-a964-cfab0058e0a9" providerId="ADAL" clId="{88A54081-24A6-55D3-A256-44637D7EA9D3}" dt="2026-02-13T00:18:21.995" v="71" actId="10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6:25.272" v="27" actId="20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8:21.995" v="71" actId="103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8:21.995" v="71" actId="10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8:21.995" v="71" actId="103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5:58.985" v="26" actId="20577"/>
          <ac:spMkLst>
            <pc:docMk/>
            <pc:sldMk cId="0" sldId="261"/>
            <ac:spMk id="25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8:21.995" v="71" actId="103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6:33.308" v="29" actId="207"/>
          <ac:spMkLst>
            <pc:docMk/>
            <pc:sldMk cId="0" sldId="261"/>
            <ac:spMk id="27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8:21.995" v="71" actId="103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6:36.240" v="30" actId="207"/>
          <ac:spMkLst>
            <pc:docMk/>
            <pc:sldMk cId="0" sldId="261"/>
            <ac:spMk id="33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8:21.995" v="71" actId="103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6:39.443" v="31" actId="207"/>
          <ac:spMkLst>
            <pc:docMk/>
            <pc:sldMk cId="0" sldId="261"/>
            <ac:spMk id="40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8:21.995" v="71" actId="1036"/>
          <ac:spMkLst>
            <pc:docMk/>
            <pc:sldMk cId="0" sldId="261"/>
            <ac:spMk id="45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6:43.323" v="32" actId="207"/>
          <ac:spMkLst>
            <pc:docMk/>
            <pc:sldMk cId="0" sldId="261"/>
            <ac:spMk id="47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8:21.995" v="71" actId="1036"/>
          <ac:spMkLst>
            <pc:docMk/>
            <pc:sldMk cId="0" sldId="261"/>
            <ac:spMk id="52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18:21.995" v="71" actId="1036"/>
          <ac:spMkLst>
            <pc:docMk/>
            <pc:sldMk cId="0" sldId="261"/>
            <ac:spMk id="55" creationId="{00000000-0000-0000-0000-000000000000}"/>
          </ac:spMkLst>
        </pc:spChg>
        <pc:spChg chg="add mod">
          <ac:chgData name="Chris L. Buie" userId="ab143349-4b09-429d-a964-cfab0058e0a9" providerId="ADAL" clId="{88A54081-24A6-55D3-A256-44637D7EA9D3}" dt="2026-02-13T00:22:15.828" v="107" actId="1076"/>
          <ac:spMkLst>
            <pc:docMk/>
            <pc:sldMk cId="0" sldId="261"/>
            <ac:spMk id="62" creationId="{B3F0CDEC-1709-7790-E1AA-3E7D1A55FE77}"/>
          </ac:spMkLst>
        </pc:spChg>
        <pc:spChg chg="add mod">
          <ac:chgData name="Chris L. Buie" userId="ab143349-4b09-429d-a964-cfab0058e0a9" providerId="ADAL" clId="{88A54081-24A6-55D3-A256-44637D7EA9D3}" dt="2026-02-13T00:22:56.110" v="115" actId="1076"/>
          <ac:spMkLst>
            <pc:docMk/>
            <pc:sldMk cId="0" sldId="261"/>
            <ac:spMk id="63" creationId="{84BFDA5A-6012-8008-F22F-4EFC967428B9}"/>
          </ac:spMkLst>
        </pc:spChg>
        <pc:cxnChg chg="add mod">
          <ac:chgData name="Chris L. Buie" userId="ab143349-4b09-429d-a964-cfab0058e0a9" providerId="ADAL" clId="{88A54081-24A6-55D3-A256-44637D7EA9D3}" dt="2026-02-13T00:23:19.436" v="120" actId="14100"/>
          <ac:cxnSpMkLst>
            <pc:docMk/>
            <pc:sldMk cId="0" sldId="261"/>
            <ac:cxnSpMk id="65" creationId="{95CB298A-AE5F-926C-56D4-BA3859D41814}"/>
          </ac:cxnSpMkLst>
        </pc:cxnChg>
        <pc:cxnChg chg="add mod">
          <ac:chgData name="Chris L. Buie" userId="ab143349-4b09-429d-a964-cfab0058e0a9" providerId="ADAL" clId="{88A54081-24A6-55D3-A256-44637D7EA9D3}" dt="2026-02-13T00:23:00.985" v="116" actId="14100"/>
          <ac:cxnSpMkLst>
            <pc:docMk/>
            <pc:sldMk cId="0" sldId="261"/>
            <ac:cxnSpMk id="70" creationId="{38EDA487-0EB4-2B79-28DE-FED76B8D47F1}"/>
          </ac:cxnSpMkLst>
        </pc:cxnChg>
      </pc:sldChg>
      <pc:sldChg chg="modSp mod">
        <pc:chgData name="Chris L. Buie" userId="ab143349-4b09-429d-a964-cfab0058e0a9" providerId="ADAL" clId="{88A54081-24A6-55D3-A256-44637D7EA9D3}" dt="2026-02-13T00:26:44.142" v="168" actId="20577"/>
        <pc:sldMkLst>
          <pc:docMk/>
          <pc:sldMk cId="0" sldId="262"/>
        </pc:sldMkLst>
        <pc:spChg chg="mod">
          <ac:chgData name="Chris L. Buie" userId="ab143349-4b09-429d-a964-cfab0058e0a9" providerId="ADAL" clId="{88A54081-24A6-55D3-A256-44637D7EA9D3}" dt="2026-02-13T00:26:44.142" v="168" actId="20577"/>
          <ac:spMkLst>
            <pc:docMk/>
            <pc:sldMk cId="0" sldId="262"/>
            <ac:spMk id="5" creationId="{00000000-0000-0000-0000-000000000000}"/>
          </ac:spMkLst>
        </pc:spChg>
      </pc:sldChg>
      <pc:sldChg chg="addSp modSp mod">
        <pc:chgData name="Chris L. Buie" userId="ab143349-4b09-429d-a964-cfab0058e0a9" providerId="ADAL" clId="{88A54081-24A6-55D3-A256-44637D7EA9D3}" dt="2026-02-13T00:32:57.988" v="250" actId="20577"/>
        <pc:sldMkLst>
          <pc:docMk/>
          <pc:sldMk cId="0" sldId="263"/>
        </pc:sldMkLst>
        <pc:spChg chg="mod">
          <ac:chgData name="Chris L. Buie" userId="ab143349-4b09-429d-a964-cfab0058e0a9" providerId="ADAL" clId="{88A54081-24A6-55D3-A256-44637D7EA9D3}" dt="2026-02-13T00:29:08.489" v="170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32:35.777" v="221" actId="20577"/>
          <ac:spMkLst>
            <pc:docMk/>
            <pc:sldMk cId="0" sldId="263"/>
            <ac:spMk id="12" creationId="{00000000-0000-0000-0000-000000000000}"/>
          </ac:spMkLst>
        </pc:spChg>
        <pc:spChg chg="add mod">
          <ac:chgData name="Chris L. Buie" userId="ab143349-4b09-429d-a964-cfab0058e0a9" providerId="ADAL" clId="{88A54081-24A6-55D3-A256-44637D7EA9D3}" dt="2026-02-13T00:32:57.988" v="250" actId="20577"/>
          <ac:spMkLst>
            <pc:docMk/>
            <pc:sldMk cId="0" sldId="263"/>
            <ac:spMk id="37" creationId="{A12B05C5-E924-F9B5-77D7-C7A69C6139F4}"/>
          </ac:spMkLst>
        </pc:spChg>
        <pc:spChg chg="add mod">
          <ac:chgData name="Chris L. Buie" userId="ab143349-4b09-429d-a964-cfab0058e0a9" providerId="ADAL" clId="{88A54081-24A6-55D3-A256-44637D7EA9D3}" dt="2026-02-13T00:32:17.064" v="218" actId="1076"/>
          <ac:spMkLst>
            <pc:docMk/>
            <pc:sldMk cId="0" sldId="263"/>
            <ac:spMk id="38" creationId="{D5E8DDB1-D998-AE5F-8297-2EC399F0E6A2}"/>
          </ac:spMkLst>
        </pc:spChg>
      </pc:sldChg>
      <pc:sldChg chg="modSp mod">
        <pc:chgData name="Chris L. Buie" userId="ab143349-4b09-429d-a964-cfab0058e0a9" providerId="ADAL" clId="{88A54081-24A6-55D3-A256-44637D7EA9D3}" dt="2026-02-13T00:30:26.982" v="189" actId="20577"/>
        <pc:sldMkLst>
          <pc:docMk/>
          <pc:sldMk cId="0" sldId="264"/>
        </pc:sldMkLst>
        <pc:spChg chg="mod">
          <ac:chgData name="Chris L. Buie" userId="ab143349-4b09-429d-a964-cfab0058e0a9" providerId="ADAL" clId="{88A54081-24A6-55D3-A256-44637D7EA9D3}" dt="2026-02-13T00:30:06.321" v="186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Chris L. Buie" userId="ab143349-4b09-429d-a964-cfab0058e0a9" providerId="ADAL" clId="{88A54081-24A6-55D3-A256-44637D7EA9D3}" dt="2026-02-13T00:30:26.982" v="189" actId="20577"/>
          <ac:spMkLst>
            <pc:docMk/>
            <pc:sldMk cId="0" sldId="264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873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WARWICK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566160" y="713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INVESTMENT GROUP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Scaling Our Data Team</a:t>
            </a:r>
            <a:endParaRPr lang="en-US" sz="4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with AI Agents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Claude agents automate routine data work—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reducing cost, increasing velocity, and scaling our team.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February 2026  |  Warwick Technology Team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0"/>
          </a:xfrm>
          <a:prstGeom prst="line">
            <a:avLst/>
          </a:prstGeom>
          <a:noFill/>
          <a:ln w="9525">
            <a:solidFill>
              <a:srgbClr val="98989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Our data teams face a persistent bottleneck: high demand for new pipelines, new products, and support and maintenance for existing ones.  The work is repetitive and manual.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5603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1016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01" y="23152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Slow Delivery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68580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Each new pipeline takes days of developer time—writing boilerplate, testing, deploying.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3337560" y="1965960"/>
            <a:ext cx="25603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1016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51960" y="219456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72661" y="23152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High Cost to Scale</a:t>
            </a:r>
            <a:endParaRPr lang="en-US" sz="1600"/>
          </a:p>
        </p:txBody>
      </p:sp>
      <p:sp>
        <p:nvSpPr>
          <p:cNvPr id="15" name="Text 11"/>
          <p:cNvSpPr/>
          <p:nvPr/>
        </p:nvSpPr>
        <p:spPr>
          <a:xfrm>
            <a:off x="356616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Adding pipelines means adding headcount. Engineering talent is expensive and scarce.</a:t>
            </a:r>
            <a:endParaRPr lang="en-US" sz="1100"/>
          </a:p>
        </p:txBody>
      </p:sp>
      <p:sp>
        <p:nvSpPr>
          <p:cNvPr id="16" name="Shape 12"/>
          <p:cNvSpPr/>
          <p:nvPr/>
        </p:nvSpPr>
        <p:spPr>
          <a:xfrm>
            <a:off x="6217920" y="1965960"/>
            <a:ext cx="25603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1016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0" y="219456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021" y="23152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Repetitive Work</a:t>
            </a:r>
            <a:endParaRPr lang="en-US" sz="1600"/>
          </a:p>
        </p:txBody>
      </p:sp>
      <p:sp>
        <p:nvSpPr>
          <p:cNvPr id="20" name="Text 15"/>
          <p:cNvSpPr/>
          <p:nvPr/>
        </p:nvSpPr>
        <p:spPr>
          <a:xfrm>
            <a:off x="644652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80% of pipeline code follows the same pattern: extract, transform, load, test, deploy.</a:t>
            </a:r>
            <a:endParaRPr lang="en-US" sz="1100"/>
          </a:p>
        </p:txBody>
      </p:sp>
      <p:sp>
        <p:nvSpPr>
          <p:cNvPr id="21" name="Text 1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Warwick Investment Group  |  Confidential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Our Approach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Our Approach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Claude AI agents work like junior engineers on our team—reading instructions, writing code, running tests, and submitting pull requests for review.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8404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1016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280160" cy="2743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BEFORE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Developer reads the data source docs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22960" y="29535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Writes boilerplate extract/transform/load code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Writes tests manually for each function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822960" y="36484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Runs linting and fixes issues by hand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822960" y="39959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Opens a PR and waits for CI to pass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846320" y="1965960"/>
            <a:ext cx="38404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1016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0" y="2148840"/>
            <a:ext cx="1645920" cy="27432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WITH AGENTS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029200" y="26060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Team opens a GitHub Issue with the request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029200" y="29535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Claude agent reads CLAUDE.md for conventions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029200" y="33009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Generates pipeline code following our design patterns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6484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Runs tests and lint automatically, fixes issues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029200" y="39959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Submits a passing PR for human review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human stays in the loop for design decisions and code review. The agent handles the implementation.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Warwick Investment Group  |  Confidential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It Works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It Works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GitHub Issue triggers the full agent workflow—from reading the request to delivering a tested pull request.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463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43230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Issue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Created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37744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03120" y="1691640"/>
            <a:ext cx="1463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606040" y="1783080"/>
            <a:ext cx="457200" cy="457200"/>
          </a:xfrm>
          <a:prstGeom prst="ellipse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6060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/>
          </a:p>
        </p:txBody>
      </p:sp>
      <p:sp>
        <p:nvSpPr>
          <p:cNvPr id="16" name="Shape 12"/>
          <p:cNvSpPr/>
          <p:nvPr/>
        </p:nvSpPr>
        <p:spPr>
          <a:xfrm>
            <a:off x="2560320" y="233172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0904" y="243230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9456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Agent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Activated</a:t>
            </a:r>
            <a:endParaRPr lang="en-US" sz="120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377440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886200" y="1691640"/>
            <a:ext cx="1463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389120" y="1783080"/>
            <a:ext cx="457200" cy="457200"/>
          </a:xfrm>
          <a:prstGeom prst="ellipse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43891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/>
          </a:p>
        </p:txBody>
      </p:sp>
      <p:sp>
        <p:nvSpPr>
          <p:cNvPr id="23" name="Shape 17"/>
          <p:cNvSpPr/>
          <p:nvPr/>
        </p:nvSpPr>
        <p:spPr>
          <a:xfrm>
            <a:off x="4343400" y="233172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243230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7764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Generated</a:t>
            </a:r>
            <a:endParaRPr lang="en-US" sz="120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377440"/>
            <a:ext cx="201168" cy="20116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669280" y="1691640"/>
            <a:ext cx="1463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6172200" y="1783080"/>
            <a:ext cx="457200" cy="457200"/>
          </a:xfrm>
          <a:prstGeom prst="ellipse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6172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/>
          </a:p>
        </p:txBody>
      </p:sp>
      <p:sp>
        <p:nvSpPr>
          <p:cNvPr id="30" name="Shape 22"/>
          <p:cNvSpPr/>
          <p:nvPr/>
        </p:nvSpPr>
        <p:spPr>
          <a:xfrm>
            <a:off x="6126480" y="233172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064" y="2432304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76072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Tests &amp;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Lint Run</a:t>
            </a:r>
            <a:endParaRPr lang="en-US" sz="120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377440"/>
            <a:ext cx="201168" cy="20116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7452360" y="1691640"/>
            <a:ext cx="1463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7955280" y="1783080"/>
            <a:ext cx="457200" cy="457200"/>
          </a:xfrm>
          <a:prstGeom prst="ellipse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6"/>
          <p:cNvSpPr/>
          <p:nvPr/>
        </p:nvSpPr>
        <p:spPr>
          <a:xfrm>
            <a:off x="79552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600"/>
          </a:p>
        </p:txBody>
      </p:sp>
      <p:sp>
        <p:nvSpPr>
          <p:cNvPr id="37" name="Shape 27"/>
          <p:cNvSpPr/>
          <p:nvPr/>
        </p:nvSpPr>
        <p:spPr>
          <a:xfrm>
            <a:off x="7909560" y="233172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432304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54380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Submitted</a:t>
            </a:r>
            <a:endParaRPr lang="en-US" sz="1200"/>
          </a:p>
        </p:txBody>
      </p:sp>
      <p:sp>
        <p:nvSpPr>
          <p:cNvPr id="40" name="Shape 29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0"/>
          <p:cNvSpPr/>
          <p:nvPr/>
        </p:nvSpPr>
        <p:spPr>
          <a:xfrm>
            <a:off x="457200" y="3566160"/>
            <a:ext cx="54864" cy="1143000"/>
          </a:xfrm>
          <a:prstGeom prst="rect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1"/>
          <p:cNvSpPr/>
          <p:nvPr/>
        </p:nvSpPr>
        <p:spPr>
          <a:xfrm>
            <a:off x="77724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 the Hood</a:t>
            </a:r>
            <a:endParaRPr lang="en-US" sz="1200"/>
          </a:p>
        </p:txBody>
      </p:sp>
      <p:sp>
        <p:nvSpPr>
          <p:cNvPr id="43" name="Text 32"/>
          <p:cNvSpPr/>
          <p:nvPr/>
        </p:nvSpPr>
        <p:spPr>
          <a:xfrm>
            <a:off x="77724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Trigger: </a:t>
            </a:r>
            <a:r>
              <a:rPr lang="en-US" sz="10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@claude mention in GitHub Issue or PR comment</a:t>
            </a:r>
            <a:r>
              <a:rPr lang="en-US" sz="10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 Agent reads: </a:t>
            </a:r>
            <a:r>
              <a:rPr lang="en-US" sz="10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CLAUDE.md, reference pipelines, issue template</a:t>
            </a:r>
            <a:endParaRPr lang="en-US" sz="1000"/>
          </a:p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Tools used: </a:t>
            </a:r>
            <a:endParaRPr lang="en-US" sz="1000"/>
          </a:p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0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Python 3.12, Prefect v3, httpx, SQLAlchemy, pytest, ruff, git, GitHub Actions</a:t>
            </a:r>
            <a:endParaRPr lang="en-US" sz="1000"/>
          </a:p>
        </p:txBody>
      </p:sp>
      <p:sp>
        <p:nvSpPr>
          <p:cNvPr id="44" name="Text 3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Warwick Investment Group  |  Confidential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Pipeline Architecture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Pipeline Architecture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pipeline the agent builds follows this modular Extract-Transform-Load pattern, orchestrated by Prefect.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5603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1016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1417320" y="22402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962" y="2350922"/>
            <a:ext cx="281635" cy="2816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Fetch data from APIs, CSVs, or Excel, JSON, Databases, etc. with retries and timeouts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51460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83280" y="1737360"/>
            <a:ext cx="25603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1016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383280" y="1737360"/>
            <a:ext cx="2560320" cy="320040"/>
          </a:xfrm>
          <a:prstGeom prst="rect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38328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</a:t>
            </a:r>
            <a:endParaRPr lang="en-US" sz="1100"/>
          </a:p>
        </p:txBody>
      </p:sp>
      <p:sp>
        <p:nvSpPr>
          <p:cNvPr id="16" name="Shape 12"/>
          <p:cNvSpPr/>
          <p:nvPr/>
        </p:nvSpPr>
        <p:spPr>
          <a:xfrm>
            <a:off x="4343400" y="22402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042" y="235092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Flatten, clean, filter, and type-convert raw data into structured row dictionaries</a:t>
            </a:r>
            <a:endParaRPr lang="en-US" sz="110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514600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09360" y="1737360"/>
            <a:ext cx="25603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1016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309360" y="1737360"/>
            <a:ext cx="2560320" cy="320040"/>
          </a:xfrm>
          <a:prstGeom prst="rect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30936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LOAD</a:t>
            </a:r>
            <a:endParaRPr lang="en-US" sz="1100"/>
          </a:p>
        </p:txBody>
      </p:sp>
      <p:sp>
        <p:nvSpPr>
          <p:cNvPr id="23" name="Shape 17"/>
          <p:cNvSpPr/>
          <p:nvPr/>
        </p:nvSpPr>
        <p:spPr>
          <a:xfrm>
            <a:off x="7269480" y="22402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122" y="2350922"/>
            <a:ext cx="281635" cy="28163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53796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Upsert</a:t>
            </a:r>
            <a:r>
              <a:rPr lang="en-US" sz="11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into PostgreSQL with ON CONFLICT for idempotent, re-runnable operations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457200" y="3977640"/>
            <a:ext cx="54864" cy="822960"/>
          </a:xfrm>
          <a:prstGeom prst="rect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766" y="4205326"/>
            <a:ext cx="230429" cy="23042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25880" y="4087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Prefect Orchestration Layer</a:t>
            </a:r>
            <a:endParaRPr lang="en-US" sz="1300"/>
          </a:p>
        </p:txBody>
      </p:sp>
      <p:sp>
        <p:nvSpPr>
          <p:cNvPr id="31" name="Text 23"/>
          <p:cNvSpPr/>
          <p:nvPr/>
        </p:nvSpPr>
        <p:spPr>
          <a:xfrm>
            <a:off x="1325880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Flows compose tasks with logging, retries, and observability. Each pipeline runs as a Prefect flow with full traceability.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Warwick Investment Group  |  Confidential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Agent in Action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Agent in Action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Detailed workflow: what happens when someone opens a pipeline request.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84020"/>
            <a:ext cx="320040" cy="320040"/>
          </a:xfrm>
          <a:prstGeom prst="ellipse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840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777240" y="1674876"/>
            <a:ext cx="301752" cy="301752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25" y="1741261"/>
            <a:ext cx="168981" cy="16898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6383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GitHub Issue filed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1188720" y="18851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Team member uses </a:t>
            </a:r>
            <a:r>
              <a:rPr lang="en-US" sz="950" dirty="0" err="1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pipeline_request</a:t>
            </a:r>
            <a:r>
              <a:rPr lang="en-US" sz="95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template with data source, table, and acceptance criteria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25780" y="2040636"/>
            <a:ext cx="0" cy="384048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2488692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24886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777240" y="2479548"/>
            <a:ext cx="301752" cy="301752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25" y="2545933"/>
            <a:ext cx="168981" cy="16898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88720" y="24429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Claude agent triggered</a:t>
            </a:r>
            <a:endParaRPr lang="en-US" sz="1200"/>
          </a:p>
        </p:txBody>
      </p:sp>
      <p:sp>
        <p:nvSpPr>
          <p:cNvPr id="18" name="Text 14"/>
          <p:cNvSpPr/>
          <p:nvPr/>
        </p:nvSpPr>
        <p:spPr>
          <a:xfrm>
            <a:off x="1188720" y="26898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GitHub Actions detects @claude mention and launches the agent with CLAUDE.md as its instruction set</a:t>
            </a:r>
            <a:endParaRPr lang="en-US" sz="950"/>
          </a:p>
        </p:txBody>
      </p:sp>
      <p:sp>
        <p:nvSpPr>
          <p:cNvPr id="19" name="Shape 15"/>
          <p:cNvSpPr/>
          <p:nvPr/>
        </p:nvSpPr>
        <p:spPr>
          <a:xfrm>
            <a:off x="525780" y="2845308"/>
            <a:ext cx="0" cy="384048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5760" y="3293364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65760" y="32933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/>
          </a:p>
        </p:txBody>
      </p:sp>
      <p:sp>
        <p:nvSpPr>
          <p:cNvPr id="22" name="Shape 18"/>
          <p:cNvSpPr/>
          <p:nvPr/>
        </p:nvSpPr>
        <p:spPr>
          <a:xfrm>
            <a:off x="777240" y="3284220"/>
            <a:ext cx="301752" cy="301752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625" y="3350605"/>
            <a:ext cx="168981" cy="16898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8720" y="32476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Agent reads codebase</a:t>
            </a:r>
            <a:endParaRPr lang="en-US" sz="1200"/>
          </a:p>
        </p:txBody>
      </p:sp>
      <p:sp>
        <p:nvSpPr>
          <p:cNvPr id="25" name="Text 20"/>
          <p:cNvSpPr/>
          <p:nvPr/>
        </p:nvSpPr>
        <p:spPr>
          <a:xfrm>
            <a:off x="1188720" y="34945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Reads reference implementation (</a:t>
            </a:r>
            <a:r>
              <a:rPr lang="en-US" sz="950" dirty="0" err="1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oklahoma_wells.py</a:t>
            </a:r>
            <a:r>
              <a:rPr lang="en-US" sz="95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), config patterns, and test conventions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25780" y="3649980"/>
            <a:ext cx="0" cy="384048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365760" y="4098036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365760" y="40980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/>
          </a:p>
        </p:txBody>
      </p:sp>
      <p:sp>
        <p:nvSpPr>
          <p:cNvPr id="29" name="Shape 24"/>
          <p:cNvSpPr/>
          <p:nvPr/>
        </p:nvSpPr>
        <p:spPr>
          <a:xfrm>
            <a:off x="777240" y="4088892"/>
            <a:ext cx="301752" cy="301752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625" y="4155277"/>
            <a:ext cx="168981" cy="16898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88720" y="40523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Generates pipeline code</a:t>
            </a:r>
            <a:endParaRPr lang="en-US" sz="1200"/>
          </a:p>
        </p:txBody>
      </p:sp>
      <p:sp>
        <p:nvSpPr>
          <p:cNvPr id="32" name="Text 26"/>
          <p:cNvSpPr/>
          <p:nvPr/>
        </p:nvSpPr>
        <p:spPr>
          <a:xfrm>
            <a:off x="1188720" y="42992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Creates extract, transform, load tasks + flow file + unit tests + SQL schema</a:t>
            </a:r>
            <a:endParaRPr lang="en-US" sz="950"/>
          </a:p>
        </p:txBody>
      </p:sp>
      <p:sp>
        <p:nvSpPr>
          <p:cNvPr id="33" name="Shape 27"/>
          <p:cNvSpPr/>
          <p:nvPr/>
        </p:nvSpPr>
        <p:spPr>
          <a:xfrm>
            <a:off x="4663440" y="1684020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663440" y="16840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/>
          </a:p>
        </p:txBody>
      </p:sp>
      <p:sp>
        <p:nvSpPr>
          <p:cNvPr id="35" name="Shape 29"/>
          <p:cNvSpPr/>
          <p:nvPr/>
        </p:nvSpPr>
        <p:spPr>
          <a:xfrm>
            <a:off x="5074920" y="1674876"/>
            <a:ext cx="301752" cy="301752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1305" y="1741261"/>
            <a:ext cx="168981" cy="16898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486400" y="16383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Runs linter (ruff)</a:t>
            </a:r>
            <a:endParaRPr lang="en-US" sz="1200"/>
          </a:p>
        </p:txBody>
      </p:sp>
      <p:sp>
        <p:nvSpPr>
          <p:cNvPr id="38" name="Text 31"/>
          <p:cNvSpPr/>
          <p:nvPr/>
        </p:nvSpPr>
        <p:spPr>
          <a:xfrm>
            <a:off x="5486400" y="18851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Executes uv run ruff check and auto-fixes any style issues before committing</a:t>
            </a:r>
            <a:endParaRPr lang="en-US" sz="950"/>
          </a:p>
        </p:txBody>
      </p:sp>
      <p:sp>
        <p:nvSpPr>
          <p:cNvPr id="39" name="Shape 32"/>
          <p:cNvSpPr/>
          <p:nvPr/>
        </p:nvSpPr>
        <p:spPr>
          <a:xfrm>
            <a:off x="4823460" y="2040636"/>
            <a:ext cx="0" cy="384048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4663440" y="2488692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4663440" y="24886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/>
          </a:p>
        </p:txBody>
      </p:sp>
      <p:sp>
        <p:nvSpPr>
          <p:cNvPr id="42" name="Shape 35"/>
          <p:cNvSpPr/>
          <p:nvPr/>
        </p:nvSpPr>
        <p:spPr>
          <a:xfrm>
            <a:off x="5074920" y="2479548"/>
            <a:ext cx="301752" cy="301752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1305" y="2545933"/>
            <a:ext cx="168981" cy="168981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486400" y="24429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Runs test suite (pytest)</a:t>
            </a:r>
            <a:endParaRPr lang="en-US" sz="1200"/>
          </a:p>
        </p:txBody>
      </p:sp>
      <p:sp>
        <p:nvSpPr>
          <p:cNvPr id="45" name="Text 37"/>
          <p:cNvSpPr/>
          <p:nvPr/>
        </p:nvSpPr>
        <p:spPr>
          <a:xfrm>
            <a:off x="5486400" y="26898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 mocked unit tests + integration tests must pass before continuing</a:t>
            </a:r>
            <a:endParaRPr lang="en-US" sz="950"/>
          </a:p>
        </p:txBody>
      </p:sp>
      <p:sp>
        <p:nvSpPr>
          <p:cNvPr id="46" name="Shape 38"/>
          <p:cNvSpPr/>
          <p:nvPr/>
        </p:nvSpPr>
        <p:spPr>
          <a:xfrm>
            <a:off x="4823460" y="2845308"/>
            <a:ext cx="0" cy="384048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9"/>
          <p:cNvSpPr/>
          <p:nvPr/>
        </p:nvSpPr>
        <p:spPr>
          <a:xfrm>
            <a:off x="4663440" y="3293364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4663440" y="32933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/>
          </a:p>
        </p:txBody>
      </p:sp>
      <p:sp>
        <p:nvSpPr>
          <p:cNvPr id="49" name="Shape 41"/>
          <p:cNvSpPr/>
          <p:nvPr/>
        </p:nvSpPr>
        <p:spPr>
          <a:xfrm>
            <a:off x="5074920" y="3284220"/>
            <a:ext cx="301752" cy="301752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1305" y="3350605"/>
            <a:ext cx="168981" cy="168981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486400" y="32476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Commits and opens PR</a:t>
            </a:r>
            <a:endParaRPr lang="en-US" sz="1200"/>
          </a:p>
        </p:txBody>
      </p:sp>
      <p:sp>
        <p:nvSpPr>
          <p:cNvPr id="52" name="Text 43"/>
          <p:cNvSpPr/>
          <p:nvPr/>
        </p:nvSpPr>
        <p:spPr>
          <a:xfrm>
            <a:off x="5486400" y="34945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Single-line commit messages per convention. PR includes summary and test results</a:t>
            </a:r>
            <a:endParaRPr lang="en-US" sz="950"/>
          </a:p>
        </p:txBody>
      </p:sp>
      <p:sp>
        <p:nvSpPr>
          <p:cNvPr id="53" name="Shape 44"/>
          <p:cNvSpPr/>
          <p:nvPr/>
        </p:nvSpPr>
        <p:spPr>
          <a:xfrm>
            <a:off x="4823460" y="3649980"/>
            <a:ext cx="0" cy="384048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5"/>
          <p:cNvSpPr/>
          <p:nvPr/>
        </p:nvSpPr>
        <p:spPr>
          <a:xfrm>
            <a:off x="4663440" y="4098036"/>
            <a:ext cx="320040" cy="320040"/>
          </a:xfrm>
          <a:prstGeom prst="ellipse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/>
          <p:nvPr/>
        </p:nvSpPr>
        <p:spPr>
          <a:xfrm>
            <a:off x="4663440" y="40980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/>
          </a:p>
        </p:txBody>
      </p:sp>
      <p:sp>
        <p:nvSpPr>
          <p:cNvPr id="56" name="Shape 47"/>
          <p:cNvSpPr/>
          <p:nvPr/>
        </p:nvSpPr>
        <p:spPr>
          <a:xfrm>
            <a:off x="5074920" y="4088892"/>
            <a:ext cx="301752" cy="301752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1305" y="4155277"/>
            <a:ext cx="168981" cy="168981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5486400" y="40523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 validates, human reviews</a:t>
            </a:r>
            <a:endParaRPr lang="en-US" sz="1200"/>
          </a:p>
        </p:txBody>
      </p:sp>
      <p:sp>
        <p:nvSpPr>
          <p:cNvPr id="59" name="Text 49"/>
          <p:cNvSpPr/>
          <p:nvPr/>
        </p:nvSpPr>
        <p:spPr>
          <a:xfrm>
            <a:off x="5486400" y="42992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GitHub Actions CI re-runs lint + tests. Engineer reviews code and merges</a:t>
            </a:r>
            <a:endParaRPr lang="en-US" sz="950"/>
          </a:p>
        </p:txBody>
      </p:sp>
      <p:sp>
        <p:nvSpPr>
          <p:cNvPr id="60" name="Shape 50"/>
          <p:cNvSpPr/>
          <p:nvPr/>
        </p:nvSpPr>
        <p:spPr>
          <a:xfrm>
            <a:off x="4434840" y="1638300"/>
            <a:ext cx="0" cy="320040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Warwick Investment Group  |  Confidential</a:t>
            </a:r>
            <a:endParaRPr lang="en-US" sz="8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F0CDEC-1709-7790-E1AA-3E7D1A55FE77}"/>
              </a:ext>
            </a:extLst>
          </p:cNvPr>
          <p:cNvSpPr txBox="1"/>
          <p:nvPr/>
        </p:nvSpPr>
        <p:spPr>
          <a:xfrm>
            <a:off x="-54948" y="1309857"/>
            <a:ext cx="1481496" cy="30777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Bradley Hand" pitchFamily="2" charset="77"/>
              </a:rPr>
              <a:t>Human or script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BFDA5A-6012-8008-F22F-4EFC967428B9}"/>
              </a:ext>
            </a:extLst>
          </p:cNvPr>
          <p:cNvSpPr txBox="1"/>
          <p:nvPr/>
        </p:nvSpPr>
        <p:spPr>
          <a:xfrm>
            <a:off x="4380394" y="4684811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Bradley Hand" pitchFamily="2" charset="77"/>
              </a:rPr>
              <a:t>Human</a:t>
            </a:r>
          </a:p>
        </p:txBody>
      </p:sp>
      <p:cxnSp>
        <p:nvCxnSpPr>
          <p:cNvPr id="65" name="Curved Connector 64">
            <a:extLst>
              <a:ext uri="{FF2B5EF4-FFF2-40B4-BE49-F238E27FC236}">
                <a16:creationId xmlns:a16="http://schemas.microsoft.com/office/drawing/2014/main" id="{95CB298A-AE5F-926C-56D4-BA3859D41814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>
            <a:off x="324947" y="1606631"/>
            <a:ext cx="278222" cy="196596"/>
          </a:xfrm>
          <a:prstGeom prst="curvedConnector4">
            <a:avLst>
              <a:gd name="adj1" fmla="val 21242"/>
              <a:gd name="adj2" fmla="val 216279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38EDA487-0EB4-2B79-28DE-FED76B8D47F1}"/>
              </a:ext>
            </a:extLst>
          </p:cNvPr>
          <p:cNvCxnSpPr>
            <a:cxnSpLocks/>
            <a:stCxn id="63" idx="0"/>
            <a:endCxn id="55" idx="1"/>
          </p:cNvCxnSpPr>
          <p:nvPr/>
        </p:nvCxnSpPr>
        <p:spPr>
          <a:xfrm rot="16200000" flipV="1">
            <a:off x="4510198" y="4411299"/>
            <a:ext cx="426755" cy="120270"/>
          </a:xfrm>
          <a:prstGeom prst="curvedConnector4">
            <a:avLst>
              <a:gd name="adj1" fmla="val 31251"/>
              <a:gd name="adj2" fmla="val 303663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We've Built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We've Built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POC pipelines built and tested by Claude agents, running on Prefect with PostgreSQL. They have executed flawlessly.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864" cy="1234440"/>
          </a:xfrm>
          <a:prstGeom prst="rect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" y="1954987"/>
            <a:ext cx="204826" cy="20482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Earthquake ETL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685800" y="2240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Source: </a:t>
            </a:r>
            <a:r>
              <a:rPr lang="en-US" sz="9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USGS GeoJSON API</a:t>
            </a:r>
            <a:r>
              <a:rPr lang="en-US" sz="90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|  Table: </a:t>
            </a:r>
            <a:r>
              <a:rPr lang="en-US" sz="9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earthquakes</a:t>
            </a:r>
            <a:endParaRPr lang="en-US" sz="900"/>
          </a:p>
        </p:txBody>
      </p:sp>
      <p:sp>
        <p:nvSpPr>
          <p:cNvPr id="12" name="Text 9"/>
          <p:cNvSpPr/>
          <p:nvPr/>
        </p:nvSpPr>
        <p:spPr>
          <a:xfrm>
            <a:off x="685800" y="24871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Real-time seismic data with magnitude filtering, geographic coordinates, and tsunami alerts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4754880" y="1737360"/>
            <a:ext cx="3931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1737360"/>
            <a:ext cx="54864" cy="1234440"/>
          </a:xfrm>
          <a:prstGeom prst="rect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983480" y="187452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947" y="1954987"/>
            <a:ext cx="204826" cy="20482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Weather Forecast ETL</a:t>
            </a:r>
            <a:endParaRPr lang="en-US" sz="1400"/>
          </a:p>
        </p:txBody>
      </p:sp>
      <p:sp>
        <p:nvSpPr>
          <p:cNvPr id="18" name="Text 14"/>
          <p:cNvSpPr/>
          <p:nvPr/>
        </p:nvSpPr>
        <p:spPr>
          <a:xfrm>
            <a:off x="4983480" y="2240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Source: </a:t>
            </a:r>
            <a:r>
              <a:rPr lang="en-US" sz="9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Open-Meteo API</a:t>
            </a:r>
            <a:r>
              <a:rPr lang="en-US" sz="90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|  Table: </a:t>
            </a:r>
            <a:r>
              <a:rPr lang="en-US" sz="9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weather_forecasts</a:t>
            </a:r>
            <a:endParaRPr lang="en-US" sz="900"/>
          </a:p>
        </p:txBody>
      </p:sp>
      <p:sp>
        <p:nvSpPr>
          <p:cNvPr id="19" name="Text 15"/>
          <p:cNvSpPr/>
          <p:nvPr/>
        </p:nvSpPr>
        <p:spPr>
          <a:xfrm>
            <a:off x="4983480" y="24871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Hourly temperature, humidity, and wind speed forecasts with composite key generation</a:t>
            </a:r>
            <a:endParaRPr lang="en-US" sz="1000"/>
          </a:p>
        </p:txBody>
      </p:sp>
      <p:sp>
        <p:nvSpPr>
          <p:cNvPr id="20" name="Shape 16"/>
          <p:cNvSpPr/>
          <p:nvPr/>
        </p:nvSpPr>
        <p:spPr>
          <a:xfrm>
            <a:off x="457200" y="3200400"/>
            <a:ext cx="3931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57200" y="3200400"/>
            <a:ext cx="54864" cy="1234440"/>
          </a:xfrm>
          <a:prstGeom prst="rect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85800" y="333756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" y="3418027"/>
            <a:ext cx="204826" cy="20482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872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Oklahoma Wells ETL</a:t>
            </a:r>
            <a:endParaRPr lang="en-US" sz="1400"/>
          </a:p>
        </p:txBody>
      </p:sp>
      <p:sp>
        <p:nvSpPr>
          <p:cNvPr id="25" name="Text 20"/>
          <p:cNvSpPr/>
          <p:nvPr/>
        </p:nvSpPr>
        <p:spPr>
          <a:xfrm>
            <a:off x="685800" y="3703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Source: </a:t>
            </a:r>
            <a:r>
              <a:rPr lang="en-US" sz="9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OCC Wells CSV (126 MB)</a:t>
            </a:r>
            <a:r>
              <a:rPr lang="en-US" sz="90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|  Table: </a:t>
            </a:r>
            <a:r>
              <a:rPr lang="en-US" sz="9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oklahoma_wells</a:t>
            </a:r>
            <a:endParaRPr lang="en-US" sz="900"/>
          </a:p>
        </p:txBody>
      </p:sp>
      <p:sp>
        <p:nvSpPr>
          <p:cNvPr id="26" name="Text 21"/>
          <p:cNvSpPr/>
          <p:nvPr/>
        </p:nvSpPr>
        <p:spPr>
          <a:xfrm>
            <a:off x="685800" y="39502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Large-file ingestion of well records with geographic data and status tracking</a:t>
            </a:r>
            <a:endParaRPr lang="en-US" sz="1000"/>
          </a:p>
        </p:txBody>
      </p:sp>
      <p:sp>
        <p:nvSpPr>
          <p:cNvPr id="27" name="Shape 22"/>
          <p:cNvSpPr/>
          <p:nvPr/>
        </p:nvSpPr>
        <p:spPr>
          <a:xfrm>
            <a:off x="4754880" y="3200400"/>
            <a:ext cx="3931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754880" y="3200400"/>
            <a:ext cx="54864" cy="1234440"/>
          </a:xfrm>
          <a:prstGeom prst="rect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983480" y="333756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947" y="3418027"/>
            <a:ext cx="204826" cy="20482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8640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Well Transfers ETL</a:t>
            </a:r>
            <a:endParaRPr lang="en-US" sz="1400"/>
          </a:p>
        </p:txBody>
      </p:sp>
      <p:sp>
        <p:nvSpPr>
          <p:cNvPr id="32" name="Text 26"/>
          <p:cNvSpPr/>
          <p:nvPr/>
        </p:nvSpPr>
        <p:spPr>
          <a:xfrm>
            <a:off x="4983480" y="3703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Source: </a:t>
            </a:r>
            <a:r>
              <a:rPr lang="en-US" sz="9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OCC Excel File</a:t>
            </a:r>
            <a:r>
              <a:rPr lang="en-US" sz="90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|  Table: </a:t>
            </a:r>
            <a:r>
              <a:rPr lang="en-US" sz="9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well_transfers</a:t>
            </a:r>
            <a:endParaRPr lang="en-US" sz="900"/>
          </a:p>
        </p:txBody>
      </p:sp>
      <p:sp>
        <p:nvSpPr>
          <p:cNvPr id="33" name="Text 27"/>
          <p:cNvSpPr/>
          <p:nvPr/>
        </p:nvSpPr>
        <p:spPr>
          <a:xfrm>
            <a:off x="4983480" y="39502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Operator transfer records parsed from Excel with composite primary keys</a:t>
            </a:r>
            <a:endParaRPr lang="en-US" sz="1000"/>
          </a:p>
        </p:txBody>
      </p:sp>
      <p:sp>
        <p:nvSpPr>
          <p:cNvPr id="34" name="Text 2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Warwick Investment Group  |  Confidential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Impact &amp; Efficiency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Impact &amp; Efficiency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96%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Reduction in</a:t>
            </a:r>
            <a:endParaRPr lang="en-US" sz="11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Pipeline Build Time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560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1371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?x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More Issues Solved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 Quarter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560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371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3E2D6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 Cost</a:t>
            </a:r>
            <a:endParaRPr lang="en-US" sz="11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 Pipeline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METRIC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017520" y="2907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MANUAL PROCESS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035040" y="2907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WITH CLAUDE AGENT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Time to build a pipeline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301752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2–4 days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0.5–2  hours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93592"/>
            <a:ext cx="8229600" cy="0"/>
          </a:xfrm>
          <a:prstGeom prst="line">
            <a:avLst/>
          </a:prstGeom>
          <a:noFill/>
          <a:ln w="9525">
            <a:solidFill>
              <a:srgbClr val="989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 review readiness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01752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Variable quality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6035040" y="3611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Consistent patterns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457200" y="3913632"/>
            <a:ext cx="8229600" cy="0"/>
          </a:xfrm>
          <a:prstGeom prst="line">
            <a:avLst/>
          </a:prstGeom>
          <a:noFill/>
          <a:ln w="9525">
            <a:solidFill>
              <a:srgbClr val="989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 coverage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01752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Often skipped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6035040" y="3931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 from day one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457200" y="4233672"/>
            <a:ext cx="8229600" cy="0"/>
          </a:xfrm>
          <a:prstGeom prst="line">
            <a:avLst/>
          </a:prstGeom>
          <a:noFill/>
          <a:ln w="9525">
            <a:solidFill>
              <a:srgbClr val="989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Scaling new pipelines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301752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Hire more engineers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603504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 more Issues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* Metrics are illustrative estimates based on early results. Update with actuals as data accumulates.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Warwick Investment Group  |  Confidential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2B05C5-E924-F9B5-77D7-C7A69C6139F4}"/>
              </a:ext>
            </a:extLst>
          </p:cNvPr>
          <p:cNvSpPr txBox="1"/>
          <p:nvPr/>
        </p:nvSpPr>
        <p:spPr>
          <a:xfrm rot="19347933">
            <a:off x="4868415" y="788236"/>
            <a:ext cx="15027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Need to calculate</a:t>
            </a:r>
          </a:p>
          <a:p>
            <a:r>
              <a:rPr lang="en-US" sz="1400" dirty="0">
                <a:solidFill>
                  <a:srgbClr val="FF0000"/>
                </a:solidFill>
              </a:rPr>
              <a:t>Hard to estimate it’s a lot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E8DDB1-D998-AE5F-8297-2EC399F0E6A2}"/>
              </a:ext>
            </a:extLst>
          </p:cNvPr>
          <p:cNvSpPr txBox="1"/>
          <p:nvPr/>
        </p:nvSpPr>
        <p:spPr>
          <a:xfrm rot="19347933">
            <a:off x="6190516" y="943391"/>
            <a:ext cx="1502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Need to calculate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0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6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WARWICK</a:t>
            </a:r>
            <a:endParaRPr lang="en-US" sz="1800"/>
          </a:p>
        </p:txBody>
      </p:sp>
      <p:sp>
        <p:nvSpPr>
          <p:cNvPr id="3" name="Text 1"/>
          <p:cNvSpPr/>
          <p:nvPr/>
        </p:nvSpPr>
        <p:spPr>
          <a:xfrm>
            <a:off x="3566160" y="5303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5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INVESTMENT GROUP</a:t>
            </a:r>
            <a:endParaRPr lang="en-US" sz="75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What's Next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Expanding the agent model across data engineering and into analytics.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560320" cy="201168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240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Scale Pipeline Library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68580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Expand from 4 to 20+ pipelines across Warwick data streams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60320" cy="201168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Agent-Driven Analytics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361188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 the agent pattern to data models, dashboards, and automated reporting workflows.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2011680"/>
            <a:ext cx="2560320" cy="201168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2402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Multi-Agent Teams</a:t>
            </a:r>
            <a:endParaRPr lang="en-US" sz="1400"/>
          </a:p>
        </p:txBody>
      </p:sp>
      <p:sp>
        <p:nvSpPr>
          <p:cNvPr id="17" name="Text 12"/>
          <p:cNvSpPr/>
          <p:nvPr/>
        </p:nvSpPr>
        <p:spPr>
          <a:xfrm>
            <a:off x="653796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Specialize agents by function—one for data quality, one for pipeline building, one for monitoring.</a:t>
            </a:r>
            <a:endParaRPr lang="en-US" sz="1100"/>
          </a:p>
        </p:txBody>
      </p:sp>
      <p:sp>
        <p:nvSpPr>
          <p:cNvPr id="18" name="Shape 13"/>
          <p:cNvSpPr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solidFill>
            <a:srgbClr val="3E2D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future of our data team is agent-assisted.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98989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Warwick Investment Group  |  Technology Team  |  Confidential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966</Words>
  <Application>Microsoft Macintosh PowerPoint</Application>
  <PresentationFormat>On-screen Show (16:9)</PresentationFormat>
  <Paragraphs>167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Bradley Hand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Data Engineering with AI Agents</dc:title>
  <dc:subject>PptxGenJS Presentation</dc:subject>
  <dc:creator>Warwick Investment Group</dc:creator>
  <cp:lastModifiedBy>Chris L. Buie</cp:lastModifiedBy>
  <cp:revision>5</cp:revision>
  <dcterms:created xsi:type="dcterms:W3CDTF">2026-02-12T23:36:44Z</dcterms:created>
  <dcterms:modified xsi:type="dcterms:W3CDTF">2026-02-13T00:33:03Z</dcterms:modified>
</cp:coreProperties>
</file>